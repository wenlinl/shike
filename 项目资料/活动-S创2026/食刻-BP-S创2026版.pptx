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e31a40eb8d4a9a" /><Relationship Type="http://schemas.openxmlformats.org/officeDocument/2006/relationships/extended-properties" Target="/docProps/app.xml" Id="Rd498995c18334d3e" /><Relationship Type="http://schemas.openxmlformats.org/officeDocument/2006/relationships/officeDocument" Target="/ppt/presentation.xml" Id="R7209e0591e1240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e35911630a41e8"/>
  </p:sldMasterIdLst>
  <p:notesMasterIdLst>
    <p:notesMasterId xmlns:r="http://schemas.openxmlformats.org/officeDocument/2006/relationships" r:id="R0c0b475eefcb41d7"/>
  </p:notesMasterIdLst>
  <p:sldIdLst>
    <p:sldId xmlns:r="http://schemas.openxmlformats.org/officeDocument/2006/relationships" id="256" r:id="R3d88200f9c85432d"/>
    <p:sldId xmlns:r="http://schemas.openxmlformats.org/officeDocument/2006/relationships" id="257" r:id="R25bf6ccea68f497d"/>
    <p:sldId xmlns:r="http://schemas.openxmlformats.org/officeDocument/2006/relationships" id="258" r:id="R8be96e2f5110478c"/>
    <p:sldId xmlns:r="http://schemas.openxmlformats.org/officeDocument/2006/relationships" id="259" r:id="R1665650e824f409f"/>
    <p:sldId xmlns:r="http://schemas.openxmlformats.org/officeDocument/2006/relationships" id="260" r:id="Rcf0fd40ff5074f10"/>
    <p:sldId xmlns:r="http://schemas.openxmlformats.org/officeDocument/2006/relationships" id="261" r:id="R58b559d83dd8415d"/>
    <p:sldId xmlns:r="http://schemas.openxmlformats.org/officeDocument/2006/relationships" id="262" r:id="Re8215c5bc32f4aae"/>
    <p:sldId xmlns:r="http://schemas.openxmlformats.org/officeDocument/2006/relationships" id="263" r:id="R6152f895ef5a4421"/>
    <p:sldId xmlns:r="http://schemas.openxmlformats.org/officeDocument/2006/relationships" id="264" r:id="Ra535998abb414e7b"/>
    <p:sldId xmlns:r="http://schemas.openxmlformats.org/officeDocument/2006/relationships" id="265" r:id="R2e30559f95374a53"/>
    <p:sldId xmlns:r="http://schemas.openxmlformats.org/officeDocument/2006/relationships" id="266" r:id="Rea117ca3e07d4af0"/>
    <p:sldId xmlns:r="http://schemas.openxmlformats.org/officeDocument/2006/relationships" id="267" r:id="Rae99645ace03408a"/>
    <p:sldId xmlns:r="http://schemas.openxmlformats.org/officeDocument/2006/relationships" id="268" r:id="R4c793b89de5c4929"/>
    <p:sldId xmlns:r="http://schemas.openxmlformats.org/officeDocument/2006/relationships" id="269" r:id="R49fb81a58b0b48a9"/>
    <p:sldId xmlns:r="http://schemas.openxmlformats.org/officeDocument/2006/relationships" id="270" r:id="R4cd81a1ad6c84ea0"/>
    <p:sldId xmlns:r="http://schemas.openxmlformats.org/officeDocument/2006/relationships" id="271" r:id="Rd5d06192a5b743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a1e810bbe34e78" /><Relationship Type="http://schemas.openxmlformats.org/officeDocument/2006/relationships/slideMaster" Target="/ppt/slideMasters/slideMaster1.xml" Id="R91e35911630a41e8" /><Relationship Type="http://schemas.openxmlformats.org/officeDocument/2006/relationships/notesMaster" Target="/ppt/notesMasters/notesMaster1.xml" Id="R0c0b475eefcb41d7" /><Relationship Type="http://schemas.openxmlformats.org/officeDocument/2006/relationships/presProps" Target="/ppt/presProps.xml" Id="R8fc013c782e74204" /><Relationship Type="http://schemas.openxmlformats.org/officeDocument/2006/relationships/tableStyles" Target="/ppt/tableStyles.xml" Id="R033dd257a40a49e8" /><Relationship Type="http://schemas.openxmlformats.org/officeDocument/2006/relationships/slide" Target="/ppt/slides/slide1.xml" Id="R3d88200f9c85432d" /><Relationship Type="http://schemas.openxmlformats.org/officeDocument/2006/relationships/slide" Target="/ppt/slides/slide2.xml" Id="R25bf6ccea68f497d" /><Relationship Type="http://schemas.openxmlformats.org/officeDocument/2006/relationships/slide" Target="/ppt/slides/slide3.xml" Id="R8be96e2f5110478c" /><Relationship Type="http://schemas.openxmlformats.org/officeDocument/2006/relationships/slide" Target="/ppt/slides/slide4.xml" Id="R1665650e824f409f" /><Relationship Type="http://schemas.openxmlformats.org/officeDocument/2006/relationships/slide" Target="/ppt/slides/slide5.xml" Id="Rcf0fd40ff5074f10" /><Relationship Type="http://schemas.openxmlformats.org/officeDocument/2006/relationships/slide" Target="/ppt/slides/slide6.xml" Id="R58b559d83dd8415d" /><Relationship Type="http://schemas.openxmlformats.org/officeDocument/2006/relationships/slide" Target="/ppt/slides/slide7.xml" Id="Re8215c5bc32f4aae" /><Relationship Type="http://schemas.openxmlformats.org/officeDocument/2006/relationships/slide" Target="/ppt/slides/slide8.xml" Id="R6152f895ef5a4421" /><Relationship Type="http://schemas.openxmlformats.org/officeDocument/2006/relationships/slide" Target="/ppt/slides/slide9.xml" Id="Ra535998abb414e7b" /><Relationship Type="http://schemas.openxmlformats.org/officeDocument/2006/relationships/slide" Target="/ppt/slides/slide10.xml" Id="R2e30559f95374a53" /><Relationship Type="http://schemas.openxmlformats.org/officeDocument/2006/relationships/slide" Target="/ppt/slides/slide11.xml" Id="Rea117ca3e07d4af0" /><Relationship Type="http://schemas.openxmlformats.org/officeDocument/2006/relationships/slide" Target="/ppt/slides/slide12.xml" Id="Rae99645ace03408a" /><Relationship Type="http://schemas.openxmlformats.org/officeDocument/2006/relationships/slide" Target="/ppt/slides/slide13.xml" Id="R4c793b89de5c4929" /><Relationship Type="http://schemas.openxmlformats.org/officeDocument/2006/relationships/slide" Target="/ppt/slides/slide14.xml" Id="R49fb81a58b0b48a9" /><Relationship Type="http://schemas.openxmlformats.org/officeDocument/2006/relationships/slide" Target="/ppt/slides/slide15.xml" Id="R4cd81a1ad6c84ea0" /><Relationship Type="http://schemas.openxmlformats.org/officeDocument/2006/relationships/slide" Target="/ppt/slides/slide16.xml" Id="Rd5d06192a5b743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0de92637b94e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b4e5ed5b694d57" /><Relationship Type="http://schemas.openxmlformats.org/officeDocument/2006/relationships/notesMaster" Target="/ppt/notesMasters/notesMaster1.xml" Id="R81eb9e7589594f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742f1778584712" /><Relationship Type="http://schemas.openxmlformats.org/officeDocument/2006/relationships/notesMaster" Target="/ppt/notesMasters/notesMaster1.xml" Id="Ra5c62be60d2b4b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d02743367b4a3d" /><Relationship Type="http://schemas.openxmlformats.org/officeDocument/2006/relationships/notesMaster" Target="/ppt/notesMasters/notesMaster1.xml" Id="R3dfbd8f0786545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6f000404c3466e" /><Relationship Type="http://schemas.openxmlformats.org/officeDocument/2006/relationships/notesMaster" Target="/ppt/notesMasters/notesMaster1.xml" Id="R1353c769979841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37e6ccb9d54ab0" /><Relationship Type="http://schemas.openxmlformats.org/officeDocument/2006/relationships/notesMaster" Target="/ppt/notesMasters/notesMaster1.xml" Id="R9f657e77f9e842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694e69068841f1" /><Relationship Type="http://schemas.openxmlformats.org/officeDocument/2006/relationships/notesMaster" Target="/ppt/notesMasters/notesMaster1.xml" Id="R51579e425b9544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61906aae134c4e" /><Relationship Type="http://schemas.openxmlformats.org/officeDocument/2006/relationships/notesMaster" Target="/ppt/notesMasters/notesMaster1.xml" Id="R1fb04ef39ca943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a46857016b46f9" /><Relationship Type="http://schemas.openxmlformats.org/officeDocument/2006/relationships/notesMaster" Target="/ppt/notesMasters/notesMaster1.xml" Id="R840d840873df46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77d6a12c7a43ab" /><Relationship Type="http://schemas.openxmlformats.org/officeDocument/2006/relationships/notesMaster" Target="/ppt/notesMasters/notesMaster1.xml" Id="R19c20358a8c245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204f24008d4f46" /><Relationship Type="http://schemas.openxmlformats.org/officeDocument/2006/relationships/notesMaster" Target="/ppt/notesMasters/notesMaster1.xml" Id="R0e65cef87f904a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4011bc745348d0" /><Relationship Type="http://schemas.openxmlformats.org/officeDocument/2006/relationships/notesMaster" Target="/ppt/notesMasters/notesMaster1.xml" Id="Rcdcf6fc7e9db4a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3b8b1dbd4348a9" /><Relationship Type="http://schemas.openxmlformats.org/officeDocument/2006/relationships/notesMaster" Target="/ppt/notesMasters/notesMaster1.xml" Id="R73fd34c7b2d84d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acb91be8cd458c" /><Relationship Type="http://schemas.openxmlformats.org/officeDocument/2006/relationships/notesMaster" Target="/ppt/notesMasters/notesMaster1.xml" Id="Rc04b52c2b3d843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100c400c294d04" /><Relationship Type="http://schemas.openxmlformats.org/officeDocument/2006/relationships/notesMaster" Target="/ppt/notesMasters/notesMaster1.xml" Id="R97cb131c7c7f43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c9625fdc4843f7" /><Relationship Type="http://schemas.openxmlformats.org/officeDocument/2006/relationships/notesMaster" Target="/ppt/notesMasters/notesMaster1.xml" Id="Ra4ea658b832c4c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46c89aef1a4646" /><Relationship Type="http://schemas.openxmlformats.org/officeDocument/2006/relationships/notesMaster" Target="/ppt/notesMasters/notesMaster1.xml" Id="Re86cc9b0f5404e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开场：一台贴在冰箱上的 AI 食品扫描台——扫一下，就知道它是什么、能放多久、该怎么办。</a:t>
            </a:r>
          </a:p>
          <a:p xmlns:a="http://schemas.openxmlformats.org/drawingml/2006/main">
            <a:r>
              <a:t>核心理念：对存量电器进行智能化+AI改造，不换冰箱，以最小成本体验智能家居。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数据来源：项目商业化分析报告与公开市场数据（全球每年约 1/3 食物被浪费、中国年浪费超 1 亿吨、家庭冰箱保有量超 3 亿台）。</a:t>
            </a:r>
          </a:p>
          <a:p xmlns:a="http://schemas.openxmlformats.org/drawingml/2006/main">
            <a:r>
              <a:t>核心痛点：不是不会做饭，而是“放进去就忘”。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核心链路：扫（拍照）→ 认（云端视觉 AI）→ 记（库存 ±1）→ 显（屏幕 + H5 + 大屏）。</a:t>
            </a:r>
          </a:p>
          <a:p xmlns:a="http://schemas.openxmlformats.org/drawingml/2006/main">
            <a:r>
              <a:t>已作为端到端可演示产品跑通，不是概念原型。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为什么是改造：存量冰箱数量庞大、换机周期长，改造比替换更易普及。</a:t>
            </a:r>
          </a:p>
          <a:p xmlns:a="http://schemas.openxmlformats.org/drawingml/2006/main">
            <a:r>
              <a:t>产品形态：硬件扫描台 + 云端 AI 识别 + 手机 H5 / 大屏，不做整机替换。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十项功能覆盖：录入、提醒、库存、菜谱、营养、购物、共享、统计、处理建议、多端。</a:t>
            </a:r>
          </a:p>
          <a:p xmlns:a="http://schemas.openxmlformats.org/drawingml/2006/main">
            <a:r>
              <a:t>对外演讲时挑前 5 项讲即可，其余作为支撑。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截图来源：media/软件示意图/手机APP/（食刻 H5 实际页面）。</a:t>
            </a:r>
          </a:p>
          <a:p xmlns:a="http://schemas.openxmlformats.org/drawingml/2006/main">
            <a:r>
              <a:t>首页总览、库存、营养分析、菜谱推荐、扫描识别五个核心页面。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截图来源：media/软件示意图/硬件设备界面/（T5-E1 屏幕实际界面）。</a:t>
            </a:r>
          </a:p>
          <a:p xmlns:a="http://schemas.openxmlformats.org/drawingml/2006/main">
            <a:r>
              <a:t>待机常显临期提醒；按下扫描 → 3 秒倒计时 → 识别 → 结果上屏。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宣传长图按上下两段展示，完整呈现全部内容；原图在 media/产品宣传图/06-宣传长图-高清.png。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核心人群之外，办公空间共享冰箱是重要的共创试点方向。</a:t>
            </a:r>
          </a:p>
          <a:p xmlns:a="http://schemas.openxmlformats.org/drawingml/2006/main">
            <a:r>
              <a:t>日本市场：食品浪费社会共识最强、包装日期体系规范、暂无外挂扫描台竞品。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市场判断来源：项目商业化分析报告（海尔/美的/三星 AI 冰箱已内置类似功能，免费 App 已完成市场教育）。</a:t>
            </a:r>
          </a:p>
          <a:p xmlns:a="http://schemas.openxmlformats.org/drawingml/2006/main">
            <a:r>
              <a:t>切入楔子：存量冰箱改造 + 零学习成本 + 家庭共享。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商业模式建议来自商业化分析：C 端硬件+订阅、B 端轻资产 SaaS 先行验证付费意愿。</a:t>
            </a:r>
          </a:p>
          <a:p xmlns:a="http://schemas.openxmlformats.org/drawingml/2006/main">
            <a:r>
              <a:t>保留向家电厂商标识技术授权的退出通道。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商业化准备度：硬件/固件完成度高；视觉识别准确率与日期提取是当前最大短板，需先提升到 ≥90%。</a:t>
            </a:r>
          </a:p>
          <a:p xmlns:a="http://schemas.openxmlformats.org/drawingml/2006/main">
            <a:r>
              <a:t>30 天计划：100 人真实用户测试后，再决定众筹或 B 端样板客户路线。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社会价值贯穿叙事：减少浪费、健康饮食、普惠智能家居、女性创业。</a:t>
            </a:r>
          </a:p>
          <a:p xmlns:a="http://schemas.openxmlformats.org/drawingml/2006/main">
            <a:r>
              <a:t>SDG 12：负责任的消费和生产。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团队背景：4 位年轻女性创业者，职业背景各不相同、优势互补，早期创业活动相识组队。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路线图与 README 未来迭代方向一致：硬件 v2、连续扫描、边缘识别、离线、B 端、出海。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结束语：期待与 S创2026 一起，把“减少浪费”变成更多人触手可及的日常。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f621319c84b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a6d11e17a94155" /><Relationship Type="http://schemas.openxmlformats.org/officeDocument/2006/relationships/slideLayout" Target="/ppt/slideLayouts/slideLayout1.xml" Id="R0b701d42f1994f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701d42f1994f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1fb6492d64c75" /><Relationship Type="http://schemas.openxmlformats.org/officeDocument/2006/relationships/image" Target="/ppt/media/image.png" Id="R207963d537914322" /><Relationship Type="http://schemas.openxmlformats.org/officeDocument/2006/relationships/notesSlide" Target="/ppt/notesSlides/notesSlide1.xml" Id="Ra13db0c9532740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48b91aa51483e" /><Relationship Type="http://schemas.openxmlformats.org/officeDocument/2006/relationships/notesSlide" Target="/ppt/notesSlides/notesSlide2.xml" Id="Rb43deb907e4e4f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d18b4d5a544b8" /><Relationship Type="http://schemas.openxmlformats.org/officeDocument/2006/relationships/notesSlide" Target="/ppt/notesSlides/notesSlide3.xml" Id="R01b8c385d96348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311b190344c4c" /><Relationship Type="http://schemas.openxmlformats.org/officeDocument/2006/relationships/notesSlide" Target="/ppt/notesSlides/notesSlide4.xml" Id="R0186fbae6e724e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69590705a4a3e" /><Relationship Type="http://schemas.openxmlformats.org/officeDocument/2006/relationships/notesSlide" Target="/ppt/notesSlides/notesSlide5.xml" Id="R3c326ed6b2df4e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3b67eab614f02" /><Relationship Type="http://schemas.openxmlformats.org/officeDocument/2006/relationships/image" Target="/ppt/media/image.jpeg" Id="R2606e5a610074dc2" /><Relationship Type="http://schemas.openxmlformats.org/officeDocument/2006/relationships/image" Target="/ppt/media/image2.jpeg" Id="Rec45944537934942" /><Relationship Type="http://schemas.openxmlformats.org/officeDocument/2006/relationships/image" Target="/ppt/media/image3.jpeg" Id="Rcd178eadfef04dcf" /><Relationship Type="http://schemas.openxmlformats.org/officeDocument/2006/relationships/image" Target="/ppt/media/image2.png" Id="R0316c4a517944423" /><Relationship Type="http://schemas.openxmlformats.org/officeDocument/2006/relationships/image" Target="/ppt/media/image3.png" Id="R0ed9f18445494387" /><Relationship Type="http://schemas.openxmlformats.org/officeDocument/2006/relationships/notesSlide" Target="/ppt/notesSlides/notesSlide6.xml" Id="R768166d9db7542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8e91d43124a48" /><Relationship Type="http://schemas.openxmlformats.org/officeDocument/2006/relationships/image" Target="/ppt/media/image4.png" Id="Ra984285d91ad4754" /><Relationship Type="http://schemas.openxmlformats.org/officeDocument/2006/relationships/image" Target="/ppt/media/image5.png" Id="R06b9b8b92a6d4a37" /><Relationship Type="http://schemas.openxmlformats.org/officeDocument/2006/relationships/image" Target="/ppt/media/image6.png" Id="R3ad09fc6a8ec4532" /><Relationship Type="http://schemas.openxmlformats.org/officeDocument/2006/relationships/image" Target="/ppt/media/image7.png" Id="R36d13411b8d24b38" /><Relationship Type="http://schemas.openxmlformats.org/officeDocument/2006/relationships/notesSlide" Target="/ppt/notesSlides/notesSlide7.xml" Id="R4e4c11ce128240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596fc42674152" /><Relationship Type="http://schemas.openxmlformats.org/officeDocument/2006/relationships/image" Target="/ppt/media/image8.png" Id="R046c45dbc9b74563" /><Relationship Type="http://schemas.openxmlformats.org/officeDocument/2006/relationships/image" Target="/ppt/media/image9.png" Id="R61e17f4ee02d4302" /><Relationship Type="http://schemas.openxmlformats.org/officeDocument/2006/relationships/notesSlide" Target="/ppt/notesSlides/notesSlide8.xml" Id="R0bba26c206e64c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337b4790e4e90" /><Relationship Type="http://schemas.openxmlformats.org/officeDocument/2006/relationships/notesSlide" Target="/ppt/notesSlides/notesSlide9.xml" Id="Rd5b3ec8ef14843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e27d3087c47e1" /><Relationship Type="http://schemas.openxmlformats.org/officeDocument/2006/relationships/notesSlide" Target="/ppt/notesSlides/notesSlide10.xml" Id="R2511a234c61644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e9e9f06924dc5" /><Relationship Type="http://schemas.openxmlformats.org/officeDocument/2006/relationships/notesSlide" Target="/ppt/notesSlides/notesSlide11.xml" Id="Rf78050716fe14f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bb17a4d6d4eb1" /><Relationship Type="http://schemas.openxmlformats.org/officeDocument/2006/relationships/notesSlide" Target="/ppt/notesSlides/notesSlide12.xml" Id="R631cc4d5012d43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fb24475694c2e" /><Relationship Type="http://schemas.openxmlformats.org/officeDocument/2006/relationships/notesSlide" Target="/ppt/notesSlides/notesSlide13.xml" Id="Rc976c24332eb46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487e467ba42a0" /><Relationship Type="http://schemas.openxmlformats.org/officeDocument/2006/relationships/notesSlide" Target="/ppt/notesSlides/notesSlide14.xml" Id="Rec092a8c994245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b7b7622c04ba5" /><Relationship Type="http://schemas.openxmlformats.org/officeDocument/2006/relationships/notesSlide" Target="/ppt/notesSlides/notesSlide15.xml" Id="R3d995c9de2354b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79990abc6440f" /><Relationship Type="http://schemas.openxmlformats.org/officeDocument/2006/relationships/notesSlide" Target="/ppt/notesSlides/notesSlide16.xml" Id="Rc5aab5d6055043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963d537914322"/>
          <a:srcRect xmlns:a="http://schemas.openxmlformats.org/drawingml/2006/main" l="16720" t="0" r="167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C4A67-9E21-4797-8F98-6EB9BA27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S创2026 · 商业计划书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00FBF-77AE-400C-8608-F76CEC5A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41414"/>
                </a:solidFill>
              </a:defRPr>
            </a:pPr>
            <a:r>
              <a:rPr sz="4500" b="1">
                <a:solidFill>
                  <a:srgbClr val="141414"/>
                </a:solidFill>
              </a:rPr>
              <a:t>食刻 ShiKe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99C32-3960-44F5-8F14-398F2EE1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1414"/>
                </a:solidFill>
              </a:defRPr>
            </a:pPr>
            <a:r>
              <a:rPr sz="2100" b="1">
                <a:solidFill>
                  <a:srgbClr val="141414"/>
                </a:solidFill>
              </a:rPr>
              <a:t>贴在冰箱上的 AI 食品扫描台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10534-63DB-4F00-AEBC-471CCF63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对存量电器进行智能化+AI改造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B3296-999C-4598-9B08-84E673D3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72"/>
                </a:solidFill>
              </a:defRPr>
            </a:pPr>
            <a:r>
              <a:rPr sz="1500" b="0">
                <a:solidFill>
                  <a:srgbClr val="5A6472"/>
                </a:solidFill>
              </a:rPr>
              <a:t>食刻在场，不浪费每一份食材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64EDF-334C-454C-82A1-E760A784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6472"/>
                </a:solidFill>
              </a:defRPr>
            </a:pPr>
            <a:r>
              <a:rPr sz="1350" b="1">
                <a:solidFill>
                  <a:srgbClr val="5A6472"/>
                </a:solidFill>
              </a:rPr>
              <a:t>扫 → 认 → 记 → 显</a:t>
            </a:r>
          </a:p>
        </p:txBody>
      </p:sp>
    </p:spTree>
    <p:extLst>
      <p:ext uri="{BB962C8B-B14F-4D97-AF65-F5344CB8AC3E}">
        <p14:creationId xmlns:p14="http://schemas.microsoft.com/office/powerpoint/2010/main" val="16266504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F0893-C4AE-4FBE-8759-EDC276FE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4196A-8492-454C-927A-EB75B939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</a:defRPr>
            </a:pPr>
            <a:r>
              <a:rPr sz="2850" b="1">
                <a:solidFill>
                  <a:srgbClr val="141414"/>
                </a:solidFill>
              </a:rPr>
              <a:t>食品浪费，从“放进去就忘”开始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85CFF-33DA-4802-8B88-ADCE8093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078F6-0A01-4B2E-B496-9D3883E6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3528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3B443-E1B1-4CDB-892F-2367DA5E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5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3D8DFF"/>
                </a:solidFill>
              </a:defRPr>
            </a:pPr>
            <a:r>
              <a:rPr sz="4500" b="1">
                <a:solidFill>
                  <a:srgbClr val="3D8DFF"/>
                </a:solidFill>
              </a:rPr>
              <a:t>1/3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3B280-05D8-4936-9DEB-007FBC4F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A6472"/>
                </a:solidFill>
              </a:defRPr>
            </a:pPr>
            <a:r>
              <a:rPr sz="1500" b="0">
                <a:solidFill>
                  <a:srgbClr val="5A6472"/>
                </a:solidFill>
              </a:rPr>
              <a:t>全球每年被浪费的食物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F2B1E-485E-4699-A88E-A550CCC0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3528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F32FE-2F15-4B11-843A-5CEEB9E1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35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3D8DFF"/>
                </a:solidFill>
              </a:defRPr>
            </a:pPr>
            <a:r>
              <a:rPr sz="4500" b="1">
                <a:solidFill>
                  <a:srgbClr val="3D8DFF"/>
                </a:solidFill>
              </a:rPr>
              <a:t>1亿吨+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64999-A8E2-4031-A545-A9250930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480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A6472"/>
                </a:solidFill>
              </a:defRPr>
            </a:pPr>
            <a:r>
              <a:rPr sz="1500" b="0">
                <a:solidFill>
                  <a:srgbClr val="5A6472"/>
                </a:solidFill>
              </a:rPr>
              <a:t>中国每年食物浪费量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28314-18C9-4D8A-BA1F-00B6BAB0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3528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F499A-A39D-4507-9BD5-D4B7F80C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35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3D8DFF"/>
                </a:solidFill>
              </a:defRPr>
            </a:pPr>
            <a:r>
              <a:rPr sz="4500" b="1">
                <a:solidFill>
                  <a:srgbClr val="3D8DFF"/>
                </a:solidFill>
              </a:rPr>
              <a:t>3亿台+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39399-C785-4748-8460-03352CE4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4805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A6472"/>
                </a:solidFill>
              </a:defRPr>
            </a:pPr>
            <a:r>
              <a:rPr sz="1500" b="0">
                <a:solidFill>
                  <a:srgbClr val="5A6472"/>
                </a:solidFill>
              </a:rPr>
              <a:t>中国家庭冰箱保有量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5A4C3-92E0-49FC-97D6-8185B384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12407-AB6C-48C7-8C24-2FDDFD26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1021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</a:defRPr>
            </a:pPr>
            <a:r>
              <a:rPr sz="1800" b="1">
                <a:solidFill>
                  <a:srgbClr val="141414"/>
                </a:solidFill>
              </a:rPr>
              <a:t>临期遗忘、重复购买、过期扔掉——冰箱是家里最容易被遗忘的库存系统。</a:t>
            </a:r>
          </a:p>
        </p:txBody>
      </p:sp>
    </p:spTree>
    <p:extLst>
      <p:ext uri="{BB962C8B-B14F-4D97-AF65-F5344CB8AC3E}">
        <p14:creationId xmlns:p14="http://schemas.microsoft.com/office/powerpoint/2010/main" val="4427743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194426-DA82-4C08-815F-3E21B7EA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A2297-73F6-4972-8F3C-5EC1761E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</a:defRPr>
            </a:pPr>
            <a:r>
              <a:rPr sz="2850" b="1">
                <a:solidFill>
                  <a:srgbClr val="141414"/>
                </a:solidFill>
              </a:rPr>
              <a:t>扫一下，就知道它是什么、能放多久、该怎么办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88A93-FC30-4D64-8426-7AA4C84C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18BC5-4271-4F32-89FA-D7BEF9E7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622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2ADCE-BE3B-401E-96AE-B0415A74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9154B-3C0C-4504-A3E7-16EF1FF0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2722A-DF84-4028-B4C0-E79B09D1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362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2"/>
                </a:solidFill>
              </a:defRPr>
            </a:pPr>
            <a:r>
              <a:rPr sz="1350" b="0">
                <a:solidFill>
                  <a:srgbClr val="5A6472"/>
                </a:solidFill>
              </a:rPr>
              <a:t>食品放到镜头前，拍照上传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E2551-57F0-4905-80FD-B99185CB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62250"/>
            <a:ext cx="457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B8BCC4"/>
                </a:solidFill>
              </a:defRPr>
            </a:pPr>
            <a:r>
              <a:rPr sz="300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B9750-6250-47FB-942F-1A1D93AA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3622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89818-3564-4568-89A5-C9AF4D56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28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6B2AF-2627-4B92-83B0-CBAD4321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5270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A03B7-A577-4E0D-BAFC-711C6865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52800"/>
            <a:ext cx="2362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2"/>
                </a:solidFill>
              </a:defRPr>
            </a:pPr>
            <a:r>
              <a:rPr sz="1350" b="0">
                <a:solidFill>
                  <a:srgbClr val="5A6472"/>
                </a:solidFill>
              </a:rPr>
              <a:t>云端视觉 AI 实时识别品名与保质期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99321-F4D2-47BD-A4EC-EF13DADD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457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B8BCC4"/>
                </a:solidFill>
              </a:defRPr>
            </a:pPr>
            <a:r>
              <a:rPr sz="300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F511C-8C16-4E70-B459-637BFDF7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3622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3D788-C650-4BA6-B6A9-0E1B3738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28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FDE6D-59FA-4655-8765-A999C161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5270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31A33-374B-4E40-A837-ED55A5A0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52800"/>
            <a:ext cx="2362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2"/>
                </a:solidFill>
              </a:defRPr>
            </a:pPr>
            <a:r>
              <a:rPr sz="1350" b="0">
                <a:solidFill>
                  <a:srgbClr val="5A6472"/>
                </a:solidFill>
              </a:rPr>
              <a:t>库存自动 ±1，自动记账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00382-042E-4405-8A86-46F0270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457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B8BCC4"/>
                </a:solidFill>
              </a:defRPr>
            </a:pPr>
            <a:r>
              <a:rPr sz="300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2C048-24CA-4FBD-89E4-BF1E5C4A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3622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408670-BF17-4799-955B-EF2A8B1A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288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C0057-231E-4AC3-9DAE-558E978D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2362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EEF3D-3EFB-421E-9695-2CFFBF8E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52800"/>
            <a:ext cx="2362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2"/>
                </a:solidFill>
              </a:defRPr>
            </a:pPr>
            <a:r>
              <a:rPr sz="1350" b="0">
                <a:solidFill>
                  <a:srgbClr val="5A6472"/>
                </a:solidFill>
              </a:rPr>
              <a:t>屏幕 / H5 / 大屏主动提醒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67A400-1679-4B83-BB76-BE0FE2ED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端到端可演示产品已跑通：硬件已烧录 · 后端已上线 · H5/大屏可用 · 3D 外壳完成</a:t>
            </a:r>
          </a:p>
        </p:txBody>
      </p:sp>
    </p:spTree>
    <p:extLst>
      <p:ext uri="{BB962C8B-B14F-4D97-AF65-F5344CB8AC3E}">
        <p14:creationId xmlns:p14="http://schemas.microsoft.com/office/powerpoint/2010/main" val="938952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CCDA13-195E-4036-9D66-0000EF4C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PRODUCT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7F6C7-8E09-4AF7-8B76-A485B81C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</a:defRPr>
            </a:pPr>
            <a:r>
              <a:rPr sz="2850" b="1">
                <a:solidFill>
                  <a:srgbClr val="141414"/>
                </a:solidFill>
              </a:rPr>
              <a:t>对存量电器进行智能化+AI改造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60CBA-8AB9-4ACB-89C2-81F61D25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9FCC7-3C52-4C4D-8459-08AFDE78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CBF4"/>
                </a:solidFill>
              </a:defRPr>
            </a:pPr>
            <a:r>
              <a:rPr sz="1950" b="1">
                <a:solidFill>
                  <a:srgbClr val="6DCBF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F68A9-4114-4463-9DEA-EF5DAB85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955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</a:defRPr>
            </a:pPr>
            <a:r>
              <a:rPr sz="1800" b="1">
                <a:solidFill>
                  <a:srgbClr val="141414"/>
                </a:solidFill>
              </a:rPr>
              <a:t>不换冰箱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4A217-F858-4D78-B9D0-ED58FE34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336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</a:defRPr>
            </a:pPr>
            <a:r>
              <a:rPr sz="1275" b="0">
                <a:solidFill>
                  <a:srgbClr val="5A6472"/>
                </a:solidFill>
              </a:rPr>
              <a:t>直接贴/吸在现有冰箱上，让现有家电变聪明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B08D4-F49F-4E1A-8B57-9AC4DA49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CBF4"/>
                </a:solidFill>
              </a:defRPr>
            </a:pPr>
            <a:r>
              <a:rPr sz="1950" b="1">
                <a:solidFill>
                  <a:srgbClr val="6DCBF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83AF8-13CF-41F7-97A9-01F9CD0D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48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</a:defRPr>
            </a:pPr>
            <a:r>
              <a:rPr sz="1800" b="1">
                <a:solidFill>
                  <a:srgbClr val="141414"/>
                </a:solidFill>
              </a:rPr>
              <a:t>零学习成本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28598-34D3-4099-9565-B7E70FE5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861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</a:defRPr>
            </a:pPr>
            <a:r>
              <a:rPr sz="1275" b="0">
                <a:solidFill>
                  <a:srgbClr val="5A6472"/>
                </a:solidFill>
              </a:rPr>
              <a:t>扫一下，自动识别、自动记账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6D9EC-4E47-4200-82B6-6656CA9B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CBF4"/>
                </a:solidFill>
              </a:defRPr>
            </a:pPr>
            <a:r>
              <a:rPr sz="1950" b="1">
                <a:solidFill>
                  <a:srgbClr val="6DCBF4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ECD09-3D0F-482D-88EA-125FECDA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005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</a:defRPr>
            </a:pPr>
            <a:r>
              <a:rPr sz="1800" b="1">
                <a:solidFill>
                  <a:srgbClr val="141414"/>
                </a:solidFill>
              </a:rPr>
              <a:t>最低成本体验智能家居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D6D4C-2697-4AB3-8993-2C22F7BD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</a:defRPr>
            </a:pPr>
            <a:r>
              <a:rPr sz="1275" b="0">
                <a:solidFill>
                  <a:srgbClr val="5A6472"/>
                </a:solidFill>
              </a:rPr>
              <a:t>硬件成本约百元级，人人都用得起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A55F1-A257-4764-9AA9-56C811DB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DCBF4"/>
                </a:solidFill>
              </a:defRPr>
            </a:pPr>
            <a:r>
              <a:rPr sz="1950" b="1">
                <a:solidFill>
                  <a:srgbClr val="6DCBF4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D42D4-B4A7-4C79-8013-A762D912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53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414"/>
                </a:solidFill>
              </a:defRPr>
            </a:pPr>
            <a:r>
              <a:rPr sz="1800" b="1">
                <a:solidFill>
                  <a:srgbClr val="141414"/>
                </a:solidFill>
              </a:rPr>
              <a:t>家庭共享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21597-3054-4503-BE04-56DDCB85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</a:defRPr>
            </a:pPr>
            <a:r>
              <a:rPr sz="1275" b="0">
                <a:solidFill>
                  <a:srgbClr val="5A6472"/>
                </a:solidFill>
              </a:rPr>
              <a:t>多位成员实时同步，一起管好冰箱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09A45-44D2-488F-ADEC-F80DC052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A1374-074A-439C-A70A-3CA681E8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67400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产品形态：硬件扫描台（贴装） + 云端 AI 识别 + 手机 H5 / 大屏多端</a:t>
            </a:r>
          </a:p>
        </p:txBody>
      </p:sp>
    </p:spTree>
    <p:extLst>
      <p:ext uri="{BB962C8B-B14F-4D97-AF65-F5344CB8AC3E}">
        <p14:creationId xmlns:p14="http://schemas.microsoft.com/office/powerpoint/2010/main" val="14138739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80B11F-55B5-48EB-A232-82006A1C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3C697-BF9E-4E78-A086-79F983ED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</a:defRPr>
            </a:pPr>
            <a:r>
              <a:rPr sz="2850" b="1">
                <a:solidFill>
                  <a:srgbClr val="141414"/>
                </a:solidFill>
              </a:rPr>
              <a:t>十个功能，把食材管理变成一件小事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6A3BC-28CA-4FA1-A056-BC2E3A57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14916-A1EC-40C6-965A-E5C6E872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• 扫描入库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EC251-AB54-4256-A2E2-54438BA3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</a:defRPr>
            </a:pPr>
            <a:r>
              <a:rPr sz="1200" b="0">
                <a:solidFill>
                  <a:srgbClr val="5A6472"/>
                </a:solidFill>
              </a:rPr>
              <a:t>AI 实时识别品名与保质期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12C1D-F493-4A9C-9E82-2D872DE6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• 临期提醒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9870F-35DE-4EFC-A06B-DAFEC757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</a:defRPr>
            </a:pPr>
            <a:r>
              <a:rPr sz="1200" b="0">
                <a:solidFill>
                  <a:srgbClr val="5A6472"/>
                </a:solidFill>
              </a:rPr>
              <a:t>到期主动提醒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BBC40-45D5-44D4-A22D-A8A84F78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• 库存管理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CA73B-A7B2-4A4A-9052-FC36F6CA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</a:defRPr>
            </a:pPr>
            <a:r>
              <a:rPr sz="1200" b="0">
                <a:solidFill>
                  <a:srgbClr val="5A6472"/>
                </a:solidFill>
              </a:rPr>
              <a:t>家庭库存一目了然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BD299-AC87-4CD9-B7E5-2014A849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• 菜谱推荐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DAB84-CF77-4008-B80E-D3D9D08B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</a:defRPr>
            </a:pPr>
            <a:r>
              <a:rPr sz="1200" b="0">
                <a:solidFill>
                  <a:srgbClr val="5A6472"/>
                </a:solidFill>
              </a:rPr>
              <a:t>按库存推荐今日菜谱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8EC5B-57FD-401A-9989-A66FAE2E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• 营养分析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346BC-7AE3-44DB-91F8-5F57B8D7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</a:defRPr>
            </a:pPr>
            <a:r>
              <a:rPr sz="1200" b="0">
                <a:solidFill>
                  <a:srgbClr val="5A6472"/>
                </a:solidFill>
              </a:rPr>
              <a:t>评估饮食均衡与营养摄入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D7CFC-9324-4E41-982C-5E803B02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• 购物清单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634D7-63C7-4B9E-9C18-051CE059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</a:defRPr>
            </a:pPr>
            <a:r>
              <a:rPr sz="1200" b="0">
                <a:solidFill>
                  <a:srgbClr val="5A6472"/>
                </a:solidFill>
              </a:rPr>
              <a:t>自动生成补货清单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F7442-E042-47E8-9AF8-8E8C98C0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• 家庭共享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29AE8-24E2-4F2D-992A-66E8C6E5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766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</a:defRPr>
            </a:pPr>
            <a:r>
              <a:rPr sz="1200" b="0">
                <a:solidFill>
                  <a:srgbClr val="5A6472"/>
                </a:solidFill>
              </a:rPr>
              <a:t>多位成员实时同步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558D1-61EE-46E3-8AAE-7D01B3FD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• 浪费统计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00536-174D-49FB-9807-55DE3D34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</a:defRPr>
            </a:pPr>
            <a:r>
              <a:rPr sz="1200" b="0">
                <a:solidFill>
                  <a:srgbClr val="5A6472"/>
                </a:solidFill>
              </a:rPr>
              <a:t>月度过期/浪费数据汇总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DB366-20C5-4E8F-BAD0-6B4D5306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• 过期处理建议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7107E-9ADB-40C7-8B3A-EC04F4AE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</a:defRPr>
            </a:pPr>
            <a:r>
              <a:rPr sz="1200" b="0">
                <a:solidFill>
                  <a:srgbClr val="5A6472"/>
                </a:solidFill>
              </a:rPr>
              <a:t>临期食材给出处理建议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F132C6-6BBE-409F-9592-8EA55BDA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43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• 多端显示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E4F74C-49C2-4D5E-9E31-635BFCE4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905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2"/>
                </a:solidFill>
              </a:defRPr>
            </a:pPr>
            <a:r>
              <a:rPr sz="1200" b="0">
                <a:solidFill>
                  <a:srgbClr val="5A6472"/>
                </a:solidFill>
              </a:rPr>
              <a:t>屏幕 + 手机 H5 + 大屏</a:t>
            </a:r>
          </a:p>
        </p:txBody>
      </p:sp>
    </p:spTree>
    <p:extLst>
      <p:ext uri="{BB962C8B-B14F-4D97-AF65-F5344CB8AC3E}">
        <p14:creationId xmlns:p14="http://schemas.microsoft.com/office/powerpoint/2010/main" val="10617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1BE736-376C-4B70-9D0C-B0913144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DEMO · 软件端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87B17-A9A0-458E-B6B7-7EF80CCC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</a:defRPr>
            </a:pPr>
            <a:r>
              <a:rPr sz="2850" b="1">
                <a:solidFill>
                  <a:srgbClr val="141414"/>
                </a:solidFill>
              </a:rPr>
              <a:t>库存、菜谱、营养、扫描都在手边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42D5F-8C4B-45A2-A343-C10E536D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19EBA-AC6B-44CC-8E55-EE923377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952500"/>
            <a:ext cx="1828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6C92A-F3D5-4AC4-B1BB-1E354B6F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0096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软件端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51793-7F69-46FA-9F51-D377BFE9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752600" cy="36195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8F062-D730-4521-B773-3E0F0888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首页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83A90-64B6-4EE6-9C8B-EACE5222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62150"/>
            <a:ext cx="1752600" cy="36195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5C601-815C-4095-B9D0-1D293F63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7721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我的库存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0F39E-876D-484F-A7C7-7410CCA1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62150"/>
            <a:ext cx="1752600" cy="36195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9F03C-C374-470C-AFCF-AA93C214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7721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营养分析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3ECD5-7FC2-45DF-9A3A-3C78B882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1752600" cy="36195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86D13-1FF8-4E07-A1BB-D337DDE9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721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菜谱推荐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8FF69-F2E5-4E0F-8981-434ACADA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62150"/>
            <a:ext cx="1752600" cy="36195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A3D10-C53E-4A96-A3DF-8E55BD3A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7721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扫描识别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6e5a610074dc2"/>
          <a:stretch xmlns:a="http://schemas.openxmlformats.org/drawingml/2006/main"/>
        </p:blipFill>
        <p:spPr>
          <a:xfrm xmlns:a="http://schemas.openxmlformats.org/drawingml/2006/main">
            <a:off x="2838450" y="2346460"/>
            <a:ext cx="1562100" cy="2774680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5944537934942"/>
          <a:stretch xmlns:a="http://schemas.openxmlformats.org/drawingml/2006/main"/>
        </p:blipFill>
        <p:spPr>
          <a:xfrm xmlns:a="http://schemas.openxmlformats.org/drawingml/2006/main">
            <a:off x="4895850" y="2346460"/>
            <a:ext cx="1562100" cy="2774680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78eadfef04dcf"/>
          <a:stretch xmlns:a="http://schemas.openxmlformats.org/drawingml/2006/main"/>
        </p:blipFill>
        <p:spPr>
          <a:xfrm xmlns:a="http://schemas.openxmlformats.org/drawingml/2006/main">
            <a:off x="9010650" y="2346460"/>
            <a:ext cx="1562100" cy="2774680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6c4a517944423"/>
          <a:stretch xmlns:a="http://schemas.openxmlformats.org/drawingml/2006/main"/>
        </p:blipFill>
        <p:spPr>
          <a:xfrm xmlns:a="http://schemas.openxmlformats.org/drawingml/2006/main">
            <a:off x="6953250" y="2346004"/>
            <a:ext cx="1562100" cy="2775591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9f18445494387"/>
          <a:stretch xmlns:a="http://schemas.openxmlformats.org/drawingml/2006/main"/>
        </p:blipFill>
        <p:spPr>
          <a:xfrm xmlns:a="http://schemas.openxmlformats.org/drawingml/2006/main">
            <a:off x="781050" y="2346004"/>
            <a:ext cx="1562100" cy="2775591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</p:spTree>
    <p:extLst>
      <p:ext uri="{BB962C8B-B14F-4D97-AF65-F5344CB8AC3E}">
        <p14:creationId xmlns:p14="http://schemas.microsoft.com/office/powerpoint/2010/main" val="16046855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F44659-4982-4142-A772-BDD90D47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DEMO · 硬件端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F4954-E94C-430E-9B35-24609C31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</a:defRPr>
            </a:pPr>
            <a:r>
              <a:rPr sz="2850" b="1">
                <a:solidFill>
                  <a:srgbClr val="141414"/>
                </a:solidFill>
              </a:rPr>
              <a:t>待机、倒计时、识别、结果上屏全流程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3228B-578F-43C6-B23B-8BD87BC5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50C8C-7503-47A3-8083-D23ADCE7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952500"/>
            <a:ext cx="1828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B7DE7-B0DA-4341-B5FD-114F8CAE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0096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硬件端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BC23A-1879-4C7B-AB2D-4B437B51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362200" cy="32385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96BC2-B580-4759-9E41-5983B820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待机页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96B22-0B6E-4879-BEC1-6F663444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62150"/>
            <a:ext cx="2362200" cy="32385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7AA36-6359-46EE-85CD-C56FDE8A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9115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拍照倒计时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87F8D-69A2-43BE-95AE-BA9FA46E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2362200" cy="32385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2D654-9107-4810-98B1-56807D90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9115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识别结果 · 放入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A38C9-6111-4761-9927-3613EF11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2362200" cy="32385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22250-4654-4438-B4C8-97172507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9115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全流程总览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9695B-97E5-42A3-AB5D-6162DBE2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2"/>
                </a:solidFill>
              </a:defRPr>
            </a:pPr>
            <a:r>
              <a:rPr sz="1350" b="0">
                <a:solidFill>
                  <a:srgbClr val="5A6472"/>
                </a:solidFill>
              </a:rPr>
              <a:t>T5-E1 单板：屏 / 触控 / 摄像头 / 音频全板载，识别结果即时上屏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4285d91ad4754"/>
          <a:stretch xmlns:a="http://schemas.openxmlformats.org/drawingml/2006/main"/>
        </p:blipFill>
        <p:spPr>
          <a:xfrm xmlns:a="http://schemas.openxmlformats.org/drawingml/2006/main">
            <a:off x="800100" y="2120900"/>
            <a:ext cx="2133600" cy="2844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9b8b92a6d4a37"/>
          <a:stretch xmlns:a="http://schemas.openxmlformats.org/drawingml/2006/main"/>
        </p:blipFill>
        <p:spPr>
          <a:xfrm xmlns:a="http://schemas.openxmlformats.org/drawingml/2006/main">
            <a:off x="6362700" y="2120900"/>
            <a:ext cx="2133600" cy="2844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09fc6a8ec4532"/>
          <a:stretch xmlns:a="http://schemas.openxmlformats.org/drawingml/2006/main"/>
        </p:blipFill>
        <p:spPr>
          <a:xfrm xmlns:a="http://schemas.openxmlformats.org/drawingml/2006/main">
            <a:off x="3581400" y="2120900"/>
            <a:ext cx="2133600" cy="2844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13411b8d24b38"/>
          <a:stretch xmlns:a="http://schemas.openxmlformats.org/drawingml/2006/main"/>
        </p:blipFill>
        <p:spPr>
          <a:xfrm xmlns:a="http://schemas.openxmlformats.org/drawingml/2006/main">
            <a:off x="9144000" y="2926032"/>
            <a:ext cx="2133600" cy="1234536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</p:spTree>
    <p:extLst>
      <p:ext uri="{BB962C8B-B14F-4D97-AF65-F5344CB8AC3E}">
        <p14:creationId xmlns:p14="http://schemas.microsoft.com/office/powerpoint/2010/main" val="108064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48E5B-7DB2-479A-91E1-3AF2C9A7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BRAND · 宣传物料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E728D-477B-4182-88A2-8F79E59B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</a:defRPr>
            </a:pPr>
            <a:r>
              <a:rPr sz="2850" b="1">
                <a:solidFill>
                  <a:srgbClr val="141414"/>
                </a:solidFill>
              </a:rPr>
              <a:t>对外宣传物料：宣传长图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E8009-7063-460C-ADD5-28264D06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A1EB1-1090-42EE-A304-9585C4BF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1435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89602-1362-482A-BE1A-BB78466F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宣传长图 · 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68E25-10E1-47CF-AA5E-7BC7E206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51435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96395-9B5B-4D7F-941B-430B6443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3627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宣传长图 · 下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c45dbc9b74563"/>
          <a:stretch xmlns:a="http://schemas.openxmlformats.org/drawingml/2006/main"/>
        </p:blipFill>
        <p:spPr>
          <a:xfrm xmlns:a="http://schemas.openxmlformats.org/drawingml/2006/main">
            <a:off x="1535696" y="1943100"/>
            <a:ext cx="3443708" cy="4305300"/>
          </a:xfrm>
          <a:prstGeom xmlns:a="http://schemas.openxmlformats.org/drawingml/2006/main" prst="roundRect">
            <a:avLst>
              <a:gd name="adj" fmla="val 354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17f4ee02d4302"/>
          <a:stretch xmlns:a="http://schemas.openxmlformats.org/drawingml/2006/main"/>
        </p:blipFill>
        <p:spPr>
          <a:xfrm xmlns:a="http://schemas.openxmlformats.org/drawingml/2006/main">
            <a:off x="7213128" y="1943100"/>
            <a:ext cx="3442645" cy="4305300"/>
          </a:xfrm>
          <a:prstGeom xmlns:a="http://schemas.openxmlformats.org/drawingml/2006/main" prst="roundRect">
            <a:avLst>
              <a:gd name="adj" fmla="val 3540"/>
            </a:avLst>
          </a:prstGeom>
        </p:spPr>
      </p:pic>
    </p:spTree>
    <p:extLst>
      <p:ext uri="{BB962C8B-B14F-4D97-AF65-F5344CB8AC3E}">
        <p14:creationId xmlns:p14="http://schemas.microsoft.com/office/powerpoint/2010/main" val="13082161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A9E0F-1D47-4623-B2D5-52B42271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AUDIENCE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E89AB-19CD-4B5A-A0A9-757C6F02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</a:defRPr>
            </a:pPr>
            <a:r>
              <a:rPr sz="2850" b="1">
                <a:solidFill>
                  <a:srgbClr val="141414"/>
                </a:solidFill>
              </a:rPr>
              <a:t>从家庭到办公空间，共创“不浪费”场景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E1171-2D29-42DF-BE32-66E56726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1865F-A6A5-46DF-8269-B143ADEE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A7916-CD5F-47F2-8B52-64F06A19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核心人群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53D24-7909-4CDB-B4A8-D320344E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572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注重健康与性价比的中国家庭：</a:t>
            </a:r>
          </a:p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• 多口之家（老人/儿童同住）</a:t>
            </a:r>
          </a:p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• 大城市的独居单身人士</a:t>
            </a:r>
          </a:p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• 厨房新手与健身人群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73CB7-BD50-4952-8F6D-6A9B4522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AD43B-1FD9-4D9E-99EC-A60B9CB6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共创与延展场景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1BBB3-8781-4968-8557-9AABBF20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14650"/>
            <a:ext cx="4572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• 办公空间共享冰箱 / 零食柜管理</a:t>
            </a:r>
          </a:p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• 食堂 · 餐饮 · 药房合规盘点</a:t>
            </a:r>
          </a:p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• 社区与真实家庭用户共创</a:t>
            </a:r>
          </a:p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• 出海日本（食品浪费意识最强）</a:t>
            </a:r>
          </a:p>
        </p:txBody>
      </p:sp>
    </p:spTree>
    <p:extLst>
      <p:ext uri="{BB962C8B-B14F-4D97-AF65-F5344CB8AC3E}">
        <p14:creationId xmlns:p14="http://schemas.microsoft.com/office/powerpoint/2010/main" val="1070522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BD1EB-32C7-47E8-B2D2-59C6C244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20EF5-5EAB-4BD3-A631-B0152876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</a:defRPr>
            </a:pPr>
            <a:r>
              <a:rPr sz="2850" b="1">
                <a:solidFill>
                  <a:srgbClr val="141414"/>
                </a:solidFill>
              </a:rPr>
              <a:t>为什么是现在：存量电器改造的机会窗口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7E007-9DCD-47D9-B887-4C581BCD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0A6A3-0536-4867-B7F3-99A6B810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存量巨大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8AE38-803C-4DDB-BCE1-41C0DEC6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95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中国冰箱保有量超 3 亿台，改造比替换更易普及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C7F3C-B07C-4348-9EB5-A47F79DA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趋势明确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B4764-96A9-4DC3-ACD7-7678A824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智能家居普及，独居与小型家庭增多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A838E-F129-4AE5-8E7A-28E916FA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需求升级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D4E77-97B0-4BCE-B9B5-49B5E856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767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健康与营养管理意识增强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9A6C0-4E87-4B97-8ADC-63F764AF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现方案不普惠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696EF-D9A4-47EF-BD8C-F950B008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673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整机冰箱贵、手动 App 难坚持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7F824-DF88-4305-AE58-3E78CF85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A179B-96AF-442A-8603-C123F243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1021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食刻以“改造 + 零学习成本 + 家庭共享”切入，不与巨头正面竞争。</a:t>
            </a:r>
          </a:p>
        </p:txBody>
      </p:sp>
    </p:spTree>
    <p:extLst>
      <p:ext uri="{BB962C8B-B14F-4D97-AF65-F5344CB8AC3E}">
        <p14:creationId xmlns:p14="http://schemas.microsoft.com/office/powerpoint/2010/main" val="325045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E7CE6-2921-4E54-9378-9D83A156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DF6F6-0F11-4210-92EC-977AD927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</a:defRPr>
            </a:pPr>
            <a:r>
              <a:rPr sz="2850" b="1">
                <a:solidFill>
                  <a:srgbClr val="141414"/>
                </a:solidFill>
              </a:rPr>
              <a:t>双线商业模式：C 端订阅 + B 端 SaaS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51F1D-C8AF-4406-B57B-862A3E72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FD83E-33B8-4FE7-BE9C-39F2ABBB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3528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E22CA-DA8C-4C7E-A4B0-8ED000DF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C 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D8FEC-B077-4A31-9E4F-66246765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414"/>
                </a:solidFill>
              </a:defRPr>
            </a:pPr>
            <a:r>
              <a:rPr sz="1800" b="1">
                <a:solidFill>
                  <a:srgbClr val="141414"/>
                </a:solidFill>
              </a:rPr>
              <a:t>硬件 + 增值订阅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B6D25-4344-4AA9-8AD6-57E2A94F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819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472"/>
                </a:solidFill>
              </a:defRPr>
            </a:pPr>
            <a:r>
              <a:rPr sz="1275" b="0">
                <a:solidFill>
                  <a:srgbClr val="5A6472"/>
                </a:solidFill>
              </a:rPr>
              <a:t>AI 识别 / 营养分析 / 多家庭共享等订阅服务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6ED7C-082F-4CC7-8684-AA8E5D8D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3528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B50D5-E052-4B86-997F-7E4C4A46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B 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FC08C-4869-4158-B890-24B662EA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414"/>
                </a:solidFill>
              </a:defRPr>
            </a:pPr>
            <a:r>
              <a:rPr sz="1800" b="1">
                <a:solidFill>
                  <a:srgbClr val="141414"/>
                </a:solidFill>
              </a:rPr>
              <a:t>合规盘点 / 空间共创 SaaS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40A67-59C3-40AD-A6E2-4332799A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2819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472"/>
                </a:solidFill>
              </a:defRPr>
            </a:pPr>
            <a:r>
              <a:rPr sz="1275" b="0">
                <a:solidFill>
                  <a:srgbClr val="5A6472"/>
                </a:solidFill>
              </a:rPr>
              <a:t>食堂 / 餐饮 / 药房盘点；办公空间共享冰箱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95BD7-FAD9-4C6A-9C34-71AFCF89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3528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2C13C-A219-464B-9E3F-B563AFE6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通道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30A8B-546F-4A60-8B9B-1635D336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414"/>
                </a:solidFill>
              </a:defRPr>
            </a:pPr>
            <a:r>
              <a:rPr sz="1800" b="1">
                <a:solidFill>
                  <a:srgbClr val="141414"/>
                </a:solidFill>
              </a:rPr>
              <a:t>技术合作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F33EE-E793-4D62-B4E0-5AB3EDC5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819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472"/>
                </a:solidFill>
              </a:defRPr>
            </a:pPr>
            <a:r>
              <a:rPr sz="1275" b="0">
                <a:solidFill>
                  <a:srgbClr val="5A6472"/>
                </a:solidFill>
              </a:rPr>
              <a:t>向家电厂商与空间运营方开放识别技术合作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E86A7-CE00-4CC7-BD1A-130B3162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2"/>
                </a:solidFill>
              </a:defRPr>
            </a:pPr>
            <a:r>
              <a:rPr sz="1350" b="0">
                <a:solidFill>
                  <a:srgbClr val="5A6472"/>
                </a:solidFill>
              </a:rPr>
              <a:t>定价细节将在 100 人真实用户测试后确定。</a:t>
            </a:r>
          </a:p>
        </p:txBody>
      </p:sp>
    </p:spTree>
    <p:extLst>
      <p:ext uri="{BB962C8B-B14F-4D97-AF65-F5344CB8AC3E}">
        <p14:creationId xmlns:p14="http://schemas.microsoft.com/office/powerpoint/2010/main" val="8027067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44C049-E2C3-4B48-9ECC-33CB0458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C7D1F-A406-449B-83F2-B478CCD0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</a:defRPr>
            </a:pPr>
            <a:r>
              <a:rPr sz="2850" b="1">
                <a:solidFill>
                  <a:srgbClr val="141414"/>
                </a:solidFill>
              </a:rPr>
              <a:t>已完成端到端可演示原型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143C0-9F25-4590-B5E0-909961AA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19DE4-2B8D-46B4-BBF7-6ACA1F0B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2DE36-F1B7-4011-8E90-CA5F1BA5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已有可演示原型机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6E46C-71C6-457B-A1AC-694C62FC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4FB49-5293-47DA-A65E-75DE326E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硬件烧录完成（T5-E1 单板）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BCC35-D092-4AFC-B920-8DF7DACA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D9DEF-71B7-4A0D-802B-0D7E1414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云端后端上线，AI 识别可用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422BF-27CA-4EFE-8FF9-F523D620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C78E2-1657-4389-8895-00B1AA1F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H5 手机端与大屏 Web 可用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D49FE-BE0D-43C3-87C5-85BE1C2C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69B14-5908-4D02-AC2F-6AF573D2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577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414"/>
                </a:solidFill>
              </a:defRPr>
            </a:pPr>
            <a:r>
              <a:rPr sz="1500" b="0">
                <a:solidFill>
                  <a:srgbClr val="141414"/>
                </a:solidFill>
              </a:rPr>
              <a:t>3D 打印外壳完成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9401B-3F9C-49EE-B478-87E82141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2362200" cy="24765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7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28C6F-1138-4B5A-970D-82AC6C03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57150" cy="2476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EE062-6FA9-4234-A1E5-FAD224DA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2410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当前阶段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CB6C4-9139-4FBF-B23A-15DAFF79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1414"/>
                </a:solidFill>
              </a:defRPr>
            </a:pPr>
            <a:r>
              <a:rPr sz="1350" b="0">
                <a:solidFill>
                  <a:srgbClr val="141414"/>
                </a:solidFill>
              </a:rPr>
              <a:t>端到端原型已跑通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D36BC-06D1-4DA1-88AF-FFB13B7E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3850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商业化验证阶段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D5022-0646-4A87-8A9D-E5722207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6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36D45-4685-465B-80CC-73A7466A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86400"/>
            <a:ext cx="12573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45A14-1177-4C3C-B24D-9C8721CD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26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0E75B-FA72-4EF9-A4D6-9BC72A2B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19750"/>
            <a:ext cx="872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414"/>
                </a:solidFill>
              </a:defRPr>
            </a:pPr>
            <a:r>
              <a:rPr sz="1500" b="1">
                <a:solidFill>
                  <a:srgbClr val="141414"/>
                </a:solidFill>
              </a:rPr>
              <a:t>100人真实用户测试 · 识别率目标 ≥90% · 验证临期提醒与留存 · 同步办公空间试点</a:t>
            </a:r>
          </a:p>
        </p:txBody>
      </p:sp>
    </p:spTree>
    <p:extLst>
      <p:ext uri="{BB962C8B-B14F-4D97-AF65-F5344CB8AC3E}">
        <p14:creationId xmlns:p14="http://schemas.microsoft.com/office/powerpoint/2010/main" val="47879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4BB2F-9904-4B56-A574-FDDA0C85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C6B0B-A5E9-4B26-8158-FA514328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</a:defRPr>
            </a:pPr>
            <a:r>
              <a:rPr sz="2850" b="1">
                <a:solidFill>
                  <a:srgbClr val="141414"/>
                </a:solidFill>
              </a:rPr>
              <a:t>减少浪费，也是更健康、更普惠的生活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2A145-AA10-4C1E-876A-B48C7629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895E0-8D2E-40F4-A498-25BAA668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62200" cy="34290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2122C-43D7-416F-A78E-ACFE9EC4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减少浪费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9159E-A1C2-42C0-B8ED-3C5F8AE4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90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2"/>
                </a:solidFill>
              </a:defRPr>
            </a:pPr>
            <a:r>
              <a:rPr sz="1350" b="0">
                <a:solidFill>
                  <a:srgbClr val="5A6472"/>
                </a:solidFill>
              </a:rPr>
              <a:t>对应 SDG 12 负责任的消费与生产</a:t>
            </a:r>
          </a:p>
          <a:p xmlns:a="http://schemas.openxmlformats.org/drawingml/2006/main">
            <a:pPr algn="ctr">
              <a:defRPr sz="1350" b="0">
                <a:solidFill>
                  <a:srgbClr val="5A6472"/>
                </a:solidFill>
              </a:defRPr>
            </a:pPr>
            <a:r>
              <a:rPr sz="1350" b="0">
                <a:solidFill>
                  <a:srgbClr val="5A6472"/>
                </a:solidFill>
              </a:rPr>
              <a:t>让“不浪费”成为日常动作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D7A5B-7F2A-4930-876B-CFF448EF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362200" cy="34290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CC188-AC52-4FAE-9E6F-C1A346CA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3840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健康饮食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93D46-F88F-4C0D-974C-59D1BB9A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38500"/>
            <a:ext cx="190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2"/>
                </a:solidFill>
              </a:defRPr>
            </a:pPr>
            <a:r>
              <a:rPr sz="1350" b="0">
                <a:solidFill>
                  <a:srgbClr val="5A6472"/>
                </a:solidFill>
              </a:rPr>
              <a:t>营养分析 + 菜谱推荐，吃得更健康、更简单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51F1C-0C35-4AC1-9975-F707778D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362200" cy="34290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222FE-08E1-4095-8523-905F177F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可负担的智能家居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FC43B-73A0-4F7D-8482-C608AFDB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190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2"/>
                </a:solidFill>
              </a:defRPr>
            </a:pPr>
            <a:r>
              <a:rPr sz="1350" b="0">
                <a:solidFill>
                  <a:srgbClr val="5A6472"/>
                </a:solidFill>
              </a:rPr>
              <a:t>百元级硬件成本，让智能生活普惠可及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64CCD-291A-4E68-8A22-4719F742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362200" cy="34290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80981-5A71-4966-9D0E-BEF2254F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3840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女性创业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956E9-ED00-40AD-ACB7-5F498EFF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0"/>
            <a:ext cx="190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2"/>
                </a:solidFill>
              </a:defRPr>
            </a:pPr>
            <a:r>
              <a:rPr sz="1350" b="0">
                <a:solidFill>
                  <a:srgbClr val="5A6472"/>
                </a:solidFill>
              </a:rPr>
              <a:t>4 位年轻女性，用技术解决日常社会问题</a:t>
            </a:r>
          </a:p>
        </p:txBody>
      </p:sp>
    </p:spTree>
    <p:extLst>
      <p:ext uri="{BB962C8B-B14F-4D97-AF65-F5344CB8AC3E}">
        <p14:creationId xmlns:p14="http://schemas.microsoft.com/office/powerpoint/2010/main" val="15367689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C10AD-84E4-4F3B-BA82-B92F4FF9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BBE35-D8BE-4E07-BDC0-2D62823C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</a:defRPr>
            </a:pPr>
            <a:r>
              <a:rPr sz="2850" b="1">
                <a:solidFill>
                  <a:srgbClr val="141414"/>
                </a:solidFill>
              </a:rPr>
              <a:t>4 位年轻女性创业者，从原型走到今天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4F542-162B-4AF2-A738-6A0A699E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7311C-4CBF-416C-9244-BDDE1B63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1414"/>
                </a:solidFill>
              </a:defRPr>
            </a:pPr>
            <a:r>
              <a:rPr sz="1950" b="1">
                <a:solidFill>
                  <a:srgbClr val="141414"/>
                </a:solidFill>
              </a:rPr>
              <a:t>我们在早期创业活动中相识组队，因共同的“冰箱食物浪费”痛点走到一起。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BB3C8-7A2E-43C1-B43C-2E6C74F1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472"/>
                </a:solidFill>
              </a:defRPr>
            </a:pPr>
            <a:r>
              <a:rPr sz="1650" b="0">
                <a:solidFill>
                  <a:srgbClr val="5A6472"/>
                </a:solidFill>
              </a:rPr>
              <a:t>团队成员职业背景各不相同、优势互补；团队小而高效，覆盖硬件、云端、软件与产品叙事，崇尚快速验证与真实反馈——从原型做到今天可演示、可落地的完整产品。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FF3AB-3480-4F9A-8AB7-39D496BF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362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2E9B4-CFFF-41C3-A90E-611EEBD8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早期创业活动相识组队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59ED5-87F6-4E51-AFDB-B25438CC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62500"/>
            <a:ext cx="2362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D7ED2-437E-42F9-A6AB-DB04253D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720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端到端产品已跑通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5071B-FAE9-4693-A55C-863C8F00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62500"/>
            <a:ext cx="2362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041E6-A7AC-465F-A062-B64C7B44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720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快速验证 · 真实反馈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2DBEC-D3B9-4603-9383-E9980076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62500"/>
            <a:ext cx="2362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28686-65D0-4025-BBA5-6AF3BD94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720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4"/>
                </a:solidFill>
              </a:defRPr>
            </a:pPr>
            <a:r>
              <a:rPr sz="1350" b="1">
                <a:solidFill>
                  <a:srgbClr val="141414"/>
                </a:solidFill>
              </a:rPr>
              <a:t>女性视角更懂家庭饮食</a:t>
            </a:r>
          </a:p>
        </p:txBody>
      </p:sp>
    </p:spTree>
    <p:extLst>
      <p:ext uri="{BB962C8B-B14F-4D97-AF65-F5344CB8AC3E}">
        <p14:creationId xmlns:p14="http://schemas.microsoft.com/office/powerpoint/2010/main" val="17242453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C495FB-9140-4BE8-906C-4E739281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77B54-27FC-44AC-A9F2-9F917084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1414"/>
                </a:solidFill>
              </a:defRPr>
            </a:pPr>
            <a:r>
              <a:rPr sz="2850" b="1">
                <a:solidFill>
                  <a:srgbClr val="141414"/>
                </a:solidFill>
              </a:rPr>
              <a:t>下一步：从原型走向规模化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30BDA-BB6C-4B5F-B98D-FDCEFA76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EEF6B-996D-4644-9143-27AB14D6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1816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28D84-A102-424F-8343-4EC3DE1A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一键补货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AAD5B-06CC-4BF4-8DF3-2FE61208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</a:defRPr>
            </a:pPr>
            <a:r>
              <a:rPr sz="1275" b="0">
                <a:solidFill>
                  <a:srgbClr val="5A6472"/>
                </a:solidFill>
              </a:rPr>
              <a:t>联动生鲜电商/商超，库存告急一键下单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29B1B-C22D-4EDA-BECE-92321914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1816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F44BD-77B3-443D-98E1-D000D013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B 端盘点与空间共创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CE5CA-90B1-45F2-BE37-5C2E80E2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</a:defRPr>
            </a:pPr>
            <a:r>
              <a:rPr sz="1275" b="0">
                <a:solidFill>
                  <a:srgbClr val="5A6472"/>
                </a:solidFill>
              </a:rPr>
              <a:t>食堂/餐饮/药房/办公空间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C75AE-090B-4FA6-A350-E3E79405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1816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FC73D-7E81-4EFF-9EA4-34BAE397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磁吸门版 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F3988-D4AB-48DC-80E4-B1D4635D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</a:defRPr>
            </a:pPr>
            <a:r>
              <a:rPr sz="1275" b="0">
                <a:solidFill>
                  <a:srgbClr val="5A6472"/>
                </a:solidFill>
              </a:rPr>
              <a:t>BOM ¥70–90，贴门内/门外两用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B39E3-F715-483D-BE0C-0A8DEB82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57400"/>
            <a:ext cx="51816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A38B1-B332-4B32-9EA9-AFFBB4D3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门内连续扫描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F1F51-2175-4219-85DC-3CFBD8EE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</a:defRPr>
            </a:pPr>
            <a:r>
              <a:rPr sz="1275" b="0">
                <a:solidFill>
                  <a:srgbClr val="5A6472"/>
                </a:solidFill>
              </a:rPr>
              <a:t>批量采购一次过件、关门汇总确认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816B3-6581-42FB-804F-46F0901D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52800"/>
            <a:ext cx="51816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10ABE-49B0-44A1-9494-D84AF3A9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边缘识别 + 离线兜底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30CE4B-3A6D-4F3C-AA24-4911734B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</a:defRPr>
            </a:pPr>
            <a:r>
              <a:rPr sz="1275" b="0">
                <a:solidFill>
                  <a:srgbClr val="5A6472"/>
                </a:solidFill>
              </a:rPr>
              <a:t>已知食品本地秒级识别，断网也能记账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11259-5D7D-4C37-8837-7CAA7A24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48200"/>
            <a:ext cx="51816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14D039-C618-452A-B980-AB0240BA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414"/>
                </a:solidFill>
              </a:defRPr>
            </a:pPr>
            <a:r>
              <a:rPr sz="1650" b="1">
                <a:solidFill>
                  <a:srgbClr val="141414"/>
                </a:solidFill>
              </a:rPr>
              <a:t>出海日本首发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8BE3DD-D81E-4230-B024-5CE78EAC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57800"/>
            <a:ext cx="472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472"/>
                </a:solidFill>
              </a:defRPr>
            </a:pPr>
            <a:r>
              <a:rPr sz="1275" b="0">
                <a:solidFill>
                  <a:srgbClr val="5A6472"/>
                </a:solidFill>
              </a:rPr>
              <a:t>满足当地合规，再拓展欧美</a:t>
            </a:r>
          </a:p>
        </p:txBody>
      </p:sp>
    </p:spTree>
    <p:extLst>
      <p:ext uri="{BB962C8B-B14F-4D97-AF65-F5344CB8AC3E}">
        <p14:creationId xmlns:p14="http://schemas.microsoft.com/office/powerpoint/2010/main" val="18502040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2A7AB-D419-42B3-9489-F7C45943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S创2026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E8F41-5295-48EB-8DF4-014B36F0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41414"/>
                </a:solidFill>
              </a:defRPr>
            </a:pPr>
            <a:r>
              <a:rPr sz="3900" b="1">
                <a:solidFill>
                  <a:srgbClr val="141414"/>
                </a:solidFill>
              </a:rPr>
              <a:t>食刻在场，不浪费每一份食材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D2239-99AD-41F6-8E91-2E1EF3C6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A6472"/>
                </a:solidFill>
              </a:defRPr>
            </a:pPr>
            <a:r>
              <a:rPr sz="1800" b="0">
                <a:solidFill>
                  <a:srgbClr val="5A6472"/>
                </a:solidFill>
              </a:rPr>
              <a:t>贴在冰箱上的 AI 食品扫描台 · 对存量电器进行智能化+AI改造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0624E-C359-47D2-9AEA-C3CCF835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感谢聆听 · 期待与 S创2026 共创</a:t>
            </a:r>
          </a:p>
        </p:txBody>
      </p:sp>
    </p:spTree>
    <p:extLst>
      <p:ext uri="{BB962C8B-B14F-4D97-AF65-F5344CB8AC3E}">
        <p14:creationId xmlns:p14="http://schemas.microsoft.com/office/powerpoint/2010/main" val="1535695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2026-08-18T07:28:03.6060000Z</dcterms:created>
  <dcterms:modified xsi:type="dcterms:W3CDTF">2026-08-18T07:28:03.6060000Z</dcterms:modified>
</coreProperties>
</file>